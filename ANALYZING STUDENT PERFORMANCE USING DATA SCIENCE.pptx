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ata" charset="1" panose="00000500000000000000"/>
      <p:regular r:id="rId18"/>
    </p:embeddedFont>
    <p:embeddedFont>
      <p:font typeface="Josefin Sans" charset="1" panose="00000500000000000000"/>
      <p:regular r:id="rId19"/>
    </p:embeddedFont>
    <p:embeddedFont>
      <p:font typeface="الأميري" charset="1" panose="00000500000000000000"/>
      <p:regular r:id="rId20"/>
    </p:embeddedFont>
    <p:embeddedFont>
      <p:font typeface="الأميري Bold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731" r="0" b="-707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709294" y="7811781"/>
            <a:ext cx="4605058" cy="2475219"/>
          </a:xfrm>
          <a:custGeom>
            <a:avLst/>
            <a:gdLst/>
            <a:ahLst/>
            <a:cxnLst/>
            <a:rect r="r" b="b" t="t" l="l"/>
            <a:pathLst>
              <a:path h="2475219" w="4605058">
                <a:moveTo>
                  <a:pt x="4605058" y="0"/>
                </a:moveTo>
                <a:lnTo>
                  <a:pt x="0" y="0"/>
                </a:lnTo>
                <a:lnTo>
                  <a:pt x="0" y="2475219"/>
                </a:lnTo>
                <a:lnTo>
                  <a:pt x="4605058" y="2475219"/>
                </a:lnTo>
                <a:lnTo>
                  <a:pt x="4605058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0"/>
            <a:ext cx="873100" cy="2024580"/>
          </a:xfrm>
          <a:custGeom>
            <a:avLst/>
            <a:gdLst/>
            <a:ahLst/>
            <a:cxnLst/>
            <a:rect r="r" b="b" t="t" l="l"/>
            <a:pathLst>
              <a:path h="2024580" w="873100">
                <a:moveTo>
                  <a:pt x="873100" y="2024580"/>
                </a:moveTo>
                <a:lnTo>
                  <a:pt x="0" y="2024580"/>
                </a:lnTo>
                <a:lnTo>
                  <a:pt x="0" y="0"/>
                </a:lnTo>
                <a:lnTo>
                  <a:pt x="873100" y="0"/>
                </a:lnTo>
                <a:lnTo>
                  <a:pt x="873100" y="202458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3670" y="4048643"/>
            <a:ext cx="14160660" cy="130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7"/>
              </a:lnSpc>
            </a:pPr>
            <a:r>
              <a:rPr lang="en-US" sz="8815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DATA SCINCE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1988" y="5569326"/>
            <a:ext cx="7004023" cy="46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2673" spc="1090">
                <a:solidFill>
                  <a:srgbClr val="F4D314"/>
                </a:solidFill>
                <a:latin typeface="Josefin Sans"/>
                <a:ea typeface="Josefin Sans"/>
                <a:cs typeface="Josefin Sans"/>
                <a:sym typeface="Josefin Sans"/>
              </a:rPr>
              <a:t>15 DECEMBER, 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81257" y="7754631"/>
            <a:ext cx="639861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YOUSEF</a:t>
            </a:r>
            <a:r>
              <a:rPr lang="en-US" sz="2673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MOATEQ ALRASHIDI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1257" y="8231127"/>
            <a:ext cx="692548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HASSAN</a:t>
            </a:r>
            <a:r>
              <a:rPr lang="en-US" sz="2673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ABDULHADI ALHUSSEIN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81257" y="8708229"/>
            <a:ext cx="665001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AHMED BANDER ALSHAMMARI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1968" y="6608599"/>
            <a:ext cx="4572325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DR.ABDULLAH ALMISMAR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75648" y="5045638"/>
            <a:ext cx="1368408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59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IS THE PERFORMANCE LEVEL OF FEMALE STUDENTS WHO COMPLETED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5036113"/>
            <a:ext cx="3684193" cy="451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1"/>
              </a:lnSpc>
              <a:spcBef>
                <a:spcPct val="0"/>
              </a:spcBef>
            </a:pPr>
            <a:r>
              <a:rPr lang="en-US" b="true" sz="2573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RESEARCH QUESTION 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74427" y="7584163"/>
            <a:ext cx="1085076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59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 FEMALE STUDENTS WHO COMPLETED THE PREPARATION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7584163"/>
            <a:ext cx="2291095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HYPOTHESIS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3078" y="3757012"/>
            <a:ext cx="563944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59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STUDENTSPERFORMANCE.CSV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70354" y="75348"/>
            <a:ext cx="12547292" cy="95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82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ANALYZING STUDENT PERFORMANCE USING DATA SCIENCE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1953" y="2956912"/>
            <a:ext cx="247500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CASE STUDY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0756" y="2956912"/>
            <a:ext cx="734972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2673" spc="259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TEST PREPARATION COURSE &amp; GENDER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35465" y="3757012"/>
            <a:ext cx="187756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DATASET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75648" y="5583062"/>
            <a:ext cx="9597953" cy="94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THE TEST PREPARATION COURSE BETTER THAN THAT OF MALE STUDENTS WHO COMPLETED THE SAME COURSE?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0340" y="8069938"/>
            <a:ext cx="915763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COURSE ACHIEVE HIGHER OVERALL SCORES THAN MALES.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01166" y="561123"/>
            <a:ext cx="5685667" cy="46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109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DATASET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5326" y="6786338"/>
            <a:ext cx="583666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NO NEED FOR DATA IMPUTATION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4860" y="2985460"/>
            <a:ext cx="698604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SOURCE:</a:t>
            </a: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STUDENT PERFORMANCE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6393" y="4290811"/>
            <a:ext cx="329261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FEATURES INCLUDE: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5326" y="4290811"/>
            <a:ext cx="10940633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[</a:t>
            </a: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GENDER] [MATH] [SCORE] [READING] [SCORE] [WRITING SCORE]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4348" y="6385436"/>
            <a:ext cx="320527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DATASET IS CLEAN: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5326" y="6385436"/>
            <a:ext cx="3806645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NO 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7883" y="4885899"/>
            <a:ext cx="592617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[TEST PREPARATION COURSE STATUS]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52226" y="561123"/>
            <a:ext cx="5183549" cy="46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109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DATA INSPECTION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092291"/>
            <a:ext cx="3427857" cy="49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8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STEPS PERFORMED: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207427"/>
            <a:ext cx="1190635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spcBef>
                <a:spcPct val="0"/>
              </a:spcBef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Checked the data types of columns and the number of values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7857" y="3133566"/>
            <a:ext cx="811443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LOADED THE DATASET USING THE PANDAS LIBRARY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801804"/>
            <a:ext cx="942412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VERIFIED THAT THERE ARE NO MISSING (NULL) VALUES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8803" y="6669982"/>
            <a:ext cx="935322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THE DATASET IS CLEAN AND READY FOR DIRECT ANALYSIS.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669982"/>
            <a:ext cx="1408803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RESULT: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97699" y="561123"/>
            <a:ext cx="7797728" cy="46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109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CREATING OVERALL SCORE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488480"/>
            <a:ext cx="1418781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AFTER INSPECTING THE DATA, WE CREATED A NEW FEATURE CALLED OVERALL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06" y="3430259"/>
            <a:ext cx="1079712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IT REPRESENTS THE STUDENT’S OVERALL ACADEMIC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06" y="3962393"/>
            <a:ext cx="544786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CALCULATED AS THE AVERAGE OF: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9306" y="4963370"/>
            <a:ext cx="3156888" cy="1234663"/>
            <a:chOff x="0" y="0"/>
            <a:chExt cx="4209184" cy="164621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3539548" cy="591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77138" indent="-288569" lvl="1">
                <a:lnSpc>
                  <a:spcPts val="3876"/>
                </a:lnSpc>
                <a:buFont typeface="Arial"/>
                <a:buChar char="•"/>
              </a:pPr>
              <a:r>
                <a:rPr lang="en-US" sz="2673" spc="2">
                  <a:solidFill>
                    <a:srgbClr val="FFFFFF"/>
                  </a:solidFill>
                  <a:latin typeface="الأميري"/>
                  <a:ea typeface="الأميري"/>
                  <a:cs typeface="الأميري"/>
                  <a:sym typeface="الأميري"/>
                </a:rPr>
                <a:t>MATH SCORE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54532"/>
              <a:ext cx="4180465" cy="591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77138" indent="-288569" lvl="1">
                <a:lnSpc>
                  <a:spcPts val="3876"/>
                </a:lnSpc>
                <a:buFont typeface="Arial"/>
                <a:buChar char="•"/>
              </a:pPr>
              <a:r>
                <a:rPr lang="en-US" sz="2673" spc="2">
                  <a:solidFill>
                    <a:srgbClr val="FFFFFF"/>
                  </a:solidFill>
                  <a:latin typeface="الأميري"/>
                  <a:ea typeface="الأميري"/>
                  <a:cs typeface="الأميري"/>
                  <a:sym typeface="الأميري"/>
                </a:rPr>
                <a:t>WRITING SCORE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90086"/>
              <a:ext cx="4209184" cy="591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77138" indent="-288569" lvl="1">
                <a:lnSpc>
                  <a:spcPts val="3876"/>
                </a:lnSpc>
                <a:buFont typeface="Arial"/>
                <a:buChar char="•"/>
              </a:pPr>
              <a:r>
                <a:rPr lang="en-US" sz="2673" spc="2">
                  <a:solidFill>
                    <a:srgbClr val="FFFFFF"/>
                  </a:solidFill>
                  <a:latin typeface="الأميري"/>
                  <a:ea typeface="الأميري"/>
                  <a:cs typeface="الأميري"/>
                  <a:sym typeface="الأميري"/>
                </a:rPr>
                <a:t>READING SCORE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37285" y="6683808"/>
            <a:ext cx="8328855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OVERALL SCORE = (MATH + READING + WRITING) /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427" y="6683808"/>
            <a:ext cx="170854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FORMULA: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9149" y="8021193"/>
            <a:ext cx="1321312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 TO SIMPLIFY COMPARISON AND ANALYZE PERFORMANCE USING A SINGLE METRIC.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022" y="8021193"/>
            <a:ext cx="157335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PURPOSE: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429" y="5468240"/>
            <a:ext cx="840808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TO COMPARE STUDENT PERFORMANCE ACCURATELY.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95763" y="561123"/>
            <a:ext cx="4696475" cy="46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109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DATA FILTERING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609776"/>
            <a:ext cx="1657614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AFTER CREATING THE OVERALL SCORE, I FILTERED THE DATASET TO FOCUS ON THE TARGET GROUP.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3675" y="3547387"/>
            <a:ext cx="1314417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SELECTED ONLY STUDENTS WHO COMPLETED THE TEST PREPARATION COURSE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75" y="3948288"/>
            <a:ext cx="1015765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DIVIDED THE DATA BASED ON GENDER (MALE AND FEMALE)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4885899"/>
            <a:ext cx="10988860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THIS ENSURES A FAIR COMPARISON UNDER THE SAME CONDITIONS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5468240"/>
            <a:ext cx="170142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PURPOSE: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0565" y="1123867"/>
            <a:ext cx="37738" cy="7547668"/>
          </a:xfrm>
          <a:custGeom>
            <a:avLst/>
            <a:gdLst/>
            <a:ahLst/>
            <a:cxnLst/>
            <a:rect r="r" b="b" t="t" l="l"/>
            <a:pathLst>
              <a:path h="7547668" w="37738">
                <a:moveTo>
                  <a:pt x="0" y="0"/>
                </a:moveTo>
                <a:lnTo>
                  <a:pt x="37738" y="0"/>
                </a:lnTo>
                <a:lnTo>
                  <a:pt x="37738" y="7547668"/>
                </a:lnTo>
                <a:lnTo>
                  <a:pt x="0" y="754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045589"/>
            <a:ext cx="7938655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MORE CONSISTENT ACADEMIC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8890" y="570648"/>
            <a:ext cx="1507832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1090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DESCRIPTIVE STATISTICS MALE &amp; FEMALE STUDENTS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305" y="3055143"/>
            <a:ext cx="484388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HIGH</a:t>
            </a: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ER AVERAGE SCORES IN: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305" y="3637846"/>
            <a:ext cx="202016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READING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2305" y="4038748"/>
            <a:ext cx="199862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WRITING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305" y="4439650"/>
            <a:ext cx="314952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OVERALL SCORE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644687"/>
            <a:ext cx="732537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LOWER VARIABILITY COMPARED TO MALES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2305" y="1402891"/>
            <a:ext cx="2176447" cy="72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b="true" sz="4157" spc="4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FEMALE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4566" y="1402891"/>
            <a:ext cx="1427559" cy="73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4160" spc="4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MALE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9434" y="5644687"/>
            <a:ext cx="874856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LOWER OVERALL AVERAGE COMPARED TO FEMALES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16002" y="3055143"/>
            <a:ext cx="563782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SLIGHTLY HIGHER VARIABILITY IN: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16002" y="3932294"/>
            <a:ext cx="282134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MATH SCORES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39434" y="6057900"/>
            <a:ext cx="471617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WIDER SCORE DISPERSION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35033" y="3647375"/>
            <a:ext cx="6984272" cy="6181936"/>
          </a:xfrm>
          <a:custGeom>
            <a:avLst/>
            <a:gdLst/>
            <a:ahLst/>
            <a:cxnLst/>
            <a:rect r="r" b="b" t="t" l="l"/>
            <a:pathLst>
              <a:path h="6181936" w="6984272">
                <a:moveTo>
                  <a:pt x="0" y="0"/>
                </a:moveTo>
                <a:lnTo>
                  <a:pt x="6984272" y="0"/>
                </a:lnTo>
                <a:lnTo>
                  <a:pt x="6984272" y="6181936"/>
                </a:lnTo>
                <a:lnTo>
                  <a:pt x="0" y="61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71621" y="570648"/>
            <a:ext cx="1174475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1090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VISUALIZATION AVERAGE OVERALL SCORE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317033"/>
            <a:ext cx="18288000" cy="94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THIS BAR CHART SHOWS THE COMPARISON OF THE AVERAGE OVERALL SCORE BETWEEN MALE AND FEMALE STUDENTS WHO COMPLETED THE TEST PREPARATION COURSE.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8776" y="771099"/>
            <a:ext cx="973660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1090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STATISTICAL ANALYSIS  SKEWNESS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4378" y="6707756"/>
            <a:ext cx="770962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INDICATES UNEQUAL PERFORMANCE SPREAD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639240"/>
            <a:ext cx="7465521" cy="94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SKEWNESS OF OVERALL SCORE DISTRIBUTION</a:t>
            </a:r>
          </a:p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CALCULATED SKEWNESS FOR MALE STUDENTS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079494"/>
            <a:ext cx="175696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PURPOSE: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963" y="4774776"/>
            <a:ext cx="1301050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UNDERSTAND DISTRIBUTION SHAPE DETECT PERFORMANCE CONCENTRATION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237" y="5905953"/>
            <a:ext cx="130514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RESULT: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4378" y="6306854"/>
            <a:ext cx="587411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DISTRIBUTION SLIGHTLY SKEWED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6577" y="6284333"/>
            <a:ext cx="876375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CONFIRMS CORRECTNESS OF STATISTICAL METHOD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5312" y="200034"/>
            <a:ext cx="660558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sz="2673" spc="1090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CORRELATION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161559"/>
            <a:ext cx="632597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PEARSON &amp; SPEARMAN CORRELATION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93971"/>
            <a:ext cx="681156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USED PEARSON &amp; SPEARMAN METHODS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94872"/>
            <a:ext cx="997668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COMPARED OVERALL SCORE WITH ITSELF (CONTROL TEST)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282502"/>
            <a:ext cx="130514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RESULT: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577" y="5883431"/>
            <a:ext cx="3664744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CORRELATION = 1.0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336733"/>
            <a:ext cx="1033505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THE PREPARATION COURSE IS MORE EFFECTIVE FOR FEMALES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4233" y="771099"/>
            <a:ext cx="5439533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1090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FINAL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92327"/>
            <a:ext cx="3990961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 HYPOTHESIS ACCEPTED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134027"/>
            <a:ext cx="1191166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FEMALE STUDENTS WHO COMPLETED THE TEST PREPARATION COURSE: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534929"/>
            <a:ext cx="6351768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ACHIEVED HIGHER OVERALL SCORES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935831"/>
            <a:ext cx="762508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SHOWED MORE CONSISTENT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241304"/>
            <a:ext cx="3096166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GOOGLE COLAB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575834"/>
            <a:ext cx="406057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673" spc="2">
                <a:solidFill>
                  <a:srgbClr val="FFFFFF"/>
                </a:solidFill>
                <a:latin typeface="الأميري Bold"/>
                <a:ea typeface="الأميري Bold"/>
                <a:cs typeface="الأميري Bold"/>
                <a:sym typeface="الأميري Bold"/>
              </a:rPr>
              <a:t>TOOLS &amp; TECHNOLOGIES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637697"/>
            <a:ext cx="1903809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7038599"/>
            <a:ext cx="181332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439501"/>
            <a:ext cx="1754332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NUMPY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840403"/>
            <a:ext cx="2691787" cy="45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7138" indent="-288569" lvl="1">
              <a:lnSpc>
                <a:spcPts val="3876"/>
              </a:lnSpc>
              <a:buFont typeface="Arial"/>
              <a:buChar char="•"/>
            </a:pPr>
            <a:r>
              <a:rPr lang="en-US" sz="2673" spc="2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MATPLOTLIB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33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72278" y="3556643"/>
            <a:ext cx="10743443" cy="160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24"/>
              </a:lnSpc>
              <a:spcBef>
                <a:spcPct val="0"/>
              </a:spcBef>
            </a:pPr>
            <a:r>
              <a:rPr lang="en-US" sz="9120" spc="3721">
                <a:solidFill>
                  <a:srgbClr val="FFFFFF"/>
                </a:solidFill>
                <a:latin typeface="الأميري"/>
                <a:ea typeface="الأميري"/>
                <a:cs typeface="الأميري"/>
                <a:sym typeface="الأميري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DAG7moyoPGc</dc:identifier>
  <dcterms:modified xsi:type="dcterms:W3CDTF">2011-08-01T06:04:30Z</dcterms:modified>
  <cp:revision>1</cp:revision>
  <dc:title>Data Scice Project</dc:title>
</cp:coreProperties>
</file>